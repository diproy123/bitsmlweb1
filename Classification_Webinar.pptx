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 Score</c:v>
                </c:pt>
              </c:strCache>
            </c:strRef>
          </c:tx>
          <c:spPr>
            <a:solidFill>
              <a:srgbClr val="0F4C8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Bagging</c:v>
                  </c:pt>
                  <c:pt idx="1">
                    <c:v>KNN</c:v>
                  </c:pt>
                  <c:pt idx="2">
                    <c:v>Decision Tree</c:v>
                  </c:pt>
                  <c:pt idx="3">
                    <c:v>SVM</c:v>
                  </c:pt>
                  <c:pt idx="4">
                    <c:v>Grad Boost</c:v>
                  </c:pt>
                  <c:pt idx="5">
                    <c:v>Random Forest</c:v>
                  </c:pt>
                  <c:pt idx="6">
                    <c:v>Voting</c:v>
                  </c:pt>
                  <c:pt idx="7">
                    <c:v>AdaBoost</c:v>
                  </c:pt>
                  <c:pt idx="8">
                    <c:v>Logistic Reg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0.526</c:v>
                </c:pt>
                <c:pt idx="1">
                  <c:v>0.548</c:v>
                </c:pt>
                <c:pt idx="2">
                  <c:v>0.565</c:v>
                </c:pt>
                <c:pt idx="3">
                  <c:v>0.566</c:v>
                </c:pt>
                <c:pt idx="4">
                  <c:v>0.571</c:v>
                </c:pt>
                <c:pt idx="5">
                  <c:v>0.577</c:v>
                </c:pt>
                <c:pt idx="6">
                  <c:v>0.581</c:v>
                </c:pt>
                <c:pt idx="7">
                  <c:v>0.585</c:v>
                </c:pt>
                <c:pt idx="8">
                  <c:v>0.592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65"/>
          <c:min val="0.45"/>
        </c:scaling>
        <c:delete val="0"/>
        <c:axPos val="b"/>
        <c:majorGridlines>
          <c:spPr>
            <a:ln w="12700" cap="flat">
              <a:solidFill>
                <a:srgbClr val="e2e8f0"/>
              </a:solidFill>
              <a:prstDash val="dash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0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1363117"/>
            <a:ext cx="518154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1200"/>
              </a:spcAft>
              <a:buNone/>
            </a:pPr>
            <a:r>
              <a:rPr lang="en-US" sz="825" b="1" dirty="0">
                <a:solidFill>
                  <a:srgbClr val="E85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 CASE STUDY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381000" y="1814513"/>
            <a:ext cx="2914650" cy="96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95"/>
              </a:lnSpc>
              <a:spcAft>
                <a:spcPts val="900"/>
              </a:spcAft>
              <a:buNone/>
            </a:pPr>
            <a:r>
              <a:rPr lang="en-US" sz="3450" dirty="0">
                <a:solidFill>
                  <a:srgbClr val="0F4C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Classification</a:t>
            </a:r>
            <a:endParaRPr lang="en-US" sz="3450" dirty="0"/>
          </a:p>
          <a:p>
            <a:pPr algn="l" indent="0" marL="0">
              <a:lnSpc>
                <a:spcPts val="3795"/>
              </a:lnSpc>
              <a:spcAft>
                <a:spcPts val="900"/>
              </a:spcAft>
              <a:buNone/>
            </a:pPr>
            <a:r>
              <a:rPr lang="en-US" sz="3450" dirty="0">
                <a:solidFill>
                  <a:srgbClr val="0F4C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Algorithms</a:t>
            </a:r>
            <a:endParaRPr lang="en-US" sz="3450" dirty="0"/>
          </a:p>
        </p:txBody>
      </p:sp>
      <p:sp>
        <p:nvSpPr>
          <p:cNvPr id="4" name="Text 2"/>
          <p:cNvSpPr/>
          <p:nvPr/>
        </p:nvSpPr>
        <p:spPr>
          <a:xfrm>
            <a:off x="381000" y="3045023"/>
            <a:ext cx="5181549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spcAft>
                <a:spcPts val="2400"/>
              </a:spcAft>
              <a:buNone/>
            </a:pPr>
            <a:r>
              <a:rPr lang="en-US" sz="13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Predicting Customer Churn with Real Data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81000" y="3742134"/>
            <a:ext cx="571500" cy="38100"/>
          </a:xfrm>
          <a:prstGeom prst="roundRect">
            <a:avLst>
              <a:gd name="adj" fmla="val 50000"/>
            </a:avLst>
          </a:prstGeom>
          <a:solidFill>
            <a:srgbClr val="E85A4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994350" y="0"/>
            <a:ext cx="3149650" cy="5143500"/>
          </a:xfrm>
          <a:prstGeom prst="rect">
            <a:avLst/>
          </a:prstGeom>
          <a:solidFill>
            <a:srgbClr val="0F4C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299150" y="1139428"/>
            <a:ext cx="259085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7DD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6299150" y="1310878"/>
            <a:ext cx="2590851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 Telco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6299150" y="1912739"/>
            <a:ext cx="259085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7DD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6299150" y="2084189"/>
            <a:ext cx="2590851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7,043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6299150" y="2686050"/>
            <a:ext cx="259085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7DD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 COMPARED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6299150" y="2857500"/>
            <a:ext cx="2590851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6299150" y="3459361"/>
            <a:ext cx="259085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7DD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F1 SCORE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6299150" y="3630811"/>
            <a:ext cx="2590851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59.2%</a:t>
            </a:r>
            <a:endParaRPr lang="en-US" sz="2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457200"/>
            <a:ext cx="412908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0F4C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We'll Cover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3400" y="914400"/>
            <a:ext cx="476250" cy="28575"/>
          </a:xfrm>
          <a:prstGeom prst="roundRect">
            <a:avLst>
              <a:gd name="adj" fmla="val 66667"/>
            </a:avLst>
          </a:prstGeom>
          <a:solidFill>
            <a:srgbClr val="E85A4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33400" y="1961257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0F4C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028700" y="1961257"/>
            <a:ext cx="225293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Business Problem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1028700" y="2199382"/>
            <a:ext cx="225293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 Telco customer churn dataset overview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33400" y="2549872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0F4C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028700" y="2549872"/>
            <a:ext cx="237194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 Regression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1028700" y="2787997"/>
            <a:ext cx="237194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classification and probability estimation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33400" y="3138488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0F4C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028700" y="3138488"/>
            <a:ext cx="193125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Trees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1028700" y="3376613"/>
            <a:ext cx="193125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Interpretable rule-based classification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3400" y="3727103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E85A4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028700" y="3727103"/>
            <a:ext cx="148419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K-Nearest Neighbors</a:t>
            </a:r>
            <a:endParaRPr lang="en-US" sz="1125" dirty="0"/>
          </a:p>
        </p:txBody>
      </p:sp>
      <p:sp>
        <p:nvSpPr>
          <p:cNvPr id="15" name="Text 13"/>
          <p:cNvSpPr/>
          <p:nvPr/>
        </p:nvSpPr>
        <p:spPr>
          <a:xfrm>
            <a:off x="1028700" y="3965228"/>
            <a:ext cx="148419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Instance-based lazy learning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800600" y="1961257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E85A4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295900" y="1961257"/>
            <a:ext cx="219661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Vector Machines</a:t>
            </a:r>
            <a:endParaRPr lang="en-US" sz="1125" dirty="0"/>
          </a:p>
        </p:txBody>
      </p:sp>
      <p:sp>
        <p:nvSpPr>
          <p:cNvPr id="18" name="Text 16"/>
          <p:cNvSpPr/>
          <p:nvPr/>
        </p:nvSpPr>
        <p:spPr>
          <a:xfrm>
            <a:off x="5295900" y="2199382"/>
            <a:ext cx="219661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Maximum margin hyperplane classification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00600" y="2549872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E85A4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295900" y="2549872"/>
            <a:ext cx="193778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Ensemble Methods</a:t>
            </a:r>
            <a:endParaRPr lang="en-US" sz="1125" dirty="0"/>
          </a:p>
        </p:txBody>
      </p:sp>
      <p:sp>
        <p:nvSpPr>
          <p:cNvPr id="21" name="Text 19"/>
          <p:cNvSpPr/>
          <p:nvPr/>
        </p:nvSpPr>
        <p:spPr>
          <a:xfrm>
            <a:off x="5295900" y="2787997"/>
            <a:ext cx="193778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Forest, Boosting, and Voting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00600" y="3138488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295900" y="3138488"/>
            <a:ext cx="221589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Evaluation</a:t>
            </a:r>
            <a:endParaRPr lang="en-US" sz="1125" dirty="0"/>
          </a:p>
        </p:txBody>
      </p:sp>
      <p:sp>
        <p:nvSpPr>
          <p:cNvPr id="24" name="Text 22"/>
          <p:cNvSpPr/>
          <p:nvPr/>
        </p:nvSpPr>
        <p:spPr>
          <a:xfrm>
            <a:off x="5295900" y="3376613"/>
            <a:ext cx="221589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Metrics, confusion matrix, and ROC curves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800600" y="3727103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295900" y="3727103"/>
            <a:ext cx="141724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Comparison</a:t>
            </a:r>
            <a:endParaRPr lang="en-US" sz="1125" dirty="0"/>
          </a:p>
        </p:txBody>
      </p:sp>
      <p:sp>
        <p:nvSpPr>
          <p:cNvPr id="27" name="Text 25"/>
          <p:cNvSpPr/>
          <p:nvPr/>
        </p:nvSpPr>
        <p:spPr>
          <a:xfrm>
            <a:off x="5295900" y="3965228"/>
            <a:ext cx="141724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model wins and why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381000"/>
            <a:ext cx="412908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0F4C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Business Problem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3400" y="781050"/>
            <a:ext cx="476250" cy="28575"/>
          </a:xfrm>
          <a:prstGeom prst="roundRect">
            <a:avLst>
              <a:gd name="adj" fmla="val 66667"/>
            </a:avLst>
          </a:prstGeom>
          <a:solidFill>
            <a:srgbClr val="E85A4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33400" y="1291679"/>
            <a:ext cx="5105400" cy="1003846"/>
          </a:xfrm>
          <a:prstGeom prst="roundRect">
            <a:avLst>
              <a:gd name="adj" fmla="val 11386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52450" y="1291679"/>
            <a:ext cx="0" cy="1003846"/>
          </a:xfrm>
          <a:prstGeom prst="line">
            <a:avLst/>
          </a:prstGeom>
          <a:noFill/>
          <a:ln w="38100">
            <a:solidFill>
              <a:srgbClr val="0F4C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2000" y="1482179"/>
            <a:ext cx="478002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762000" y="1704975"/>
            <a:ext cx="478002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 which telecom customers will cancel their service, enabling proactive retention campaigns.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33400" y="2447925"/>
            <a:ext cx="5105400" cy="1384846"/>
          </a:xfrm>
          <a:prstGeom prst="roundRect">
            <a:avLst>
              <a:gd name="adj" fmla="val 8254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23900" y="2638425"/>
            <a:ext cx="481888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750"/>
              </a:spcAft>
              <a:buNone/>
            </a:pPr>
            <a:r>
              <a:rPr lang="en-US" sz="825" b="1" dirty="0">
                <a:solidFill>
                  <a:srgbClr val="E85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FEATURES (19 TOTAL)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723900" y="2880271"/>
            <a:ext cx="4818888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 Type</a:t>
            </a:r>
            <a:pPr algn="l" indent="0" marL="0">
              <a:lnSpc>
                <a:spcPts val="3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3000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Tenure</a:t>
            </a:r>
            <a:pPr algn="l" indent="0" marL="0">
              <a:lnSpc>
                <a:spcPts val="3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3000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Charges</a:t>
            </a:r>
            <a:pPr algn="l" indent="0" marL="0">
              <a:lnSpc>
                <a:spcPts val="3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3000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Internet Service</a:t>
            </a:r>
            <a:pPr algn="l" indent="0" marL="0">
              <a:lnSpc>
                <a:spcPts val="3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3000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 Security</a:t>
            </a:r>
            <a:pPr algn="l" indent="0" marL="0">
              <a:lnSpc>
                <a:spcPts val="3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3000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Support</a:t>
            </a:r>
            <a:pPr algn="l" indent="0" marL="0">
              <a:lnSpc>
                <a:spcPts val="3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3000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Method</a:t>
            </a:r>
            <a:pPr algn="l" indent="0" marL="0">
              <a:lnSpc>
                <a:spcPts val="3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3000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+ 12 more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33400" y="3985171"/>
            <a:ext cx="2495550" cy="676275"/>
          </a:xfrm>
          <a:prstGeom prst="roundRect">
            <a:avLst>
              <a:gd name="adj" fmla="val 14085"/>
            </a:avLst>
          </a:prstGeom>
          <a:solidFill>
            <a:srgbClr val="0F4C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63893" y="4137571"/>
            <a:ext cx="223456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7DD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TYPE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663893" y="4309021"/>
            <a:ext cx="223456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spcBef>
                <a:spcPts val="300"/>
              </a:spcBef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Classification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3143250" y="3985171"/>
            <a:ext cx="2495550" cy="676275"/>
          </a:xfrm>
          <a:prstGeom prst="roundRect">
            <a:avLst>
              <a:gd name="adj" fmla="val 14085"/>
            </a:avLst>
          </a:prstGeom>
          <a:solidFill>
            <a:srgbClr val="E85A4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273743" y="4137571"/>
            <a:ext cx="223456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ECA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IMBALANCE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273743" y="4309021"/>
            <a:ext cx="223456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spcBef>
                <a:spcPts val="300"/>
              </a:spcBef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26.5% Churn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5943600" y="1124248"/>
            <a:ext cx="2667000" cy="1518047"/>
          </a:xfrm>
          <a:prstGeom prst="roundRect">
            <a:avLst>
              <a:gd name="adj" fmla="val 7529"/>
            </a:avLst>
          </a:prstGeom>
          <a:solidFill>
            <a:srgbClr val="0F4C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150102" y="1352848"/>
            <a:ext cx="225399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7DD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CUSTOMERS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6150102" y="1575643"/>
            <a:ext cx="2253996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040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7,043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6150102" y="2253704"/>
            <a:ext cx="225399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7DD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IBM Dataset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943600" y="2756595"/>
            <a:ext cx="1276350" cy="954286"/>
          </a:xfrm>
          <a:prstGeom prst="roundRect">
            <a:avLst>
              <a:gd name="adj" fmla="val 998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096000" y="2918520"/>
            <a:ext cx="9715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6096000" y="3089970"/>
            <a:ext cx="971550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10"/>
              </a:lnSpc>
              <a:spcBef>
                <a:spcPts val="300"/>
              </a:spcBef>
              <a:buNone/>
            </a:pPr>
            <a:r>
              <a:rPr lang="en-US" sz="16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5,634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6096000" y="3402360"/>
            <a:ext cx="9715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7334250" y="2756595"/>
            <a:ext cx="1276350" cy="954286"/>
          </a:xfrm>
          <a:prstGeom prst="roundRect">
            <a:avLst>
              <a:gd name="adj" fmla="val 998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7486650" y="2918520"/>
            <a:ext cx="9715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7486650" y="3089970"/>
            <a:ext cx="971550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10"/>
              </a:lnSpc>
              <a:spcBef>
                <a:spcPts val="300"/>
              </a:spcBef>
              <a:buNone/>
            </a:pPr>
            <a:r>
              <a:rPr lang="en-US" sz="16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1,409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7486650" y="3402360"/>
            <a:ext cx="9715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E85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825" dirty="0"/>
          </a:p>
        </p:txBody>
      </p:sp>
      <p:sp>
        <p:nvSpPr>
          <p:cNvPr id="29" name="Text 27"/>
          <p:cNvSpPr/>
          <p:nvPr/>
        </p:nvSpPr>
        <p:spPr>
          <a:xfrm>
            <a:off x="5943600" y="3825180"/>
            <a:ext cx="2667000" cy="1003846"/>
          </a:xfrm>
          <a:prstGeom prst="roundRect">
            <a:avLst>
              <a:gd name="adj" fmla="val 948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105525" y="3987105"/>
            <a:ext cx="239001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750"/>
              </a:spcAft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DISTRIBUTION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6105525" y="4520505"/>
            <a:ext cx="81959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Churn 73.5%</a:t>
            </a:r>
            <a:endParaRPr lang="en-US" sz="825" dirty="0"/>
          </a:p>
        </p:txBody>
      </p:sp>
      <p:sp>
        <p:nvSpPr>
          <p:cNvPr id="32" name="Text 30"/>
          <p:cNvSpPr/>
          <p:nvPr/>
        </p:nvSpPr>
        <p:spPr>
          <a:xfrm>
            <a:off x="7813923" y="4520505"/>
            <a:ext cx="64744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E85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Churn 26.5%</a:t>
            </a:r>
            <a:endParaRPr lang="en-US" sz="8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381000"/>
            <a:ext cx="29714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0F4C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Logistic Regression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3400" y="1187648"/>
            <a:ext cx="3905250" cy="899071"/>
          </a:xfrm>
          <a:prstGeom prst="roundRect">
            <a:avLst>
              <a:gd name="adj" fmla="val 10594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85800" y="1340048"/>
            <a:ext cx="367245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825" dirty="0"/>
          </a:p>
        </p:txBody>
      </p:sp>
      <p:sp>
        <p:nvSpPr>
          <p:cNvPr id="5" name="Text 3"/>
          <p:cNvSpPr/>
          <p:nvPr/>
        </p:nvSpPr>
        <p:spPr>
          <a:xfrm>
            <a:off x="685800" y="1562844"/>
            <a:ext cx="3672459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 the sigmoid function to transform a linear combination of features into a probability between 0 and 1.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533400" y="2220069"/>
            <a:ext cx="3905250" cy="1019621"/>
          </a:xfrm>
          <a:prstGeom prst="roundRect">
            <a:avLst>
              <a:gd name="adj" fmla="val 934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85800" y="2372469"/>
            <a:ext cx="367245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600"/>
              </a:spcAft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SIGMOID FUNCTION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649796" y="2582019"/>
            <a:ext cx="3672459" cy="282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P(churn) = 1 / (1 + e-z)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9796" y="2940695"/>
            <a:ext cx="367245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60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z = β₀ + β₁x₁ + β₂x₂ + ... + βₙxₙ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533400" y="3373041"/>
            <a:ext cx="3905250" cy="1230511"/>
          </a:xfrm>
          <a:prstGeom prst="roundRect">
            <a:avLst>
              <a:gd name="adj" fmla="val 7741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66750" y="3506391"/>
            <a:ext cx="371132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600"/>
              </a:spcAft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CHARACTERISTICS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666750" y="3715941"/>
            <a:ext cx="371132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Outputs calibrated probabilities (0-1)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66750" y="3914031"/>
            <a:ext cx="371132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Coefficients show feature importance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66750" y="4112121"/>
            <a:ext cx="371132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training and prediction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66750" y="4310211"/>
            <a:ext cx="371132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well with linearly separable data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705350" y="917674"/>
            <a:ext cx="3905250" cy="1984474"/>
          </a:xfrm>
          <a:prstGeom prst="roundRect">
            <a:avLst>
              <a:gd name="adj" fmla="val 4800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838700" y="1051024"/>
            <a:ext cx="371132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600"/>
              </a:spcAft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CODE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4838700" y="1260574"/>
            <a:ext cx="3711321" cy="150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</a:t>
            </a:r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sklearn.linear_model </a:t>
            </a:r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</a:t>
            </a:r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\</a:t>
            </a:r>
            <a:endParaRPr lang="en-US" sz="825" dirty="0"/>
          </a:p>
          <a:p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LogisticRegression</a:t>
            </a:r>
            <a:endParaRPr lang="en-US" sz="825" dirty="0"/>
          </a:p>
          <a:p>
            <a:pPr algn="l" indent="0" marL="0">
              <a:lnSpc>
                <a:spcPts val="1320"/>
              </a:lnSpc>
              <a:buNone/>
            </a:pPr>
            <a:endParaRPr lang="en-US" sz="825" dirty="0"/>
          </a:p>
          <a:p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model = LogisticRegression(</a:t>
            </a:r>
            <a:endParaRPr lang="en-US" sz="825" dirty="0"/>
          </a:p>
          <a:p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max_iter=</a:t>
            </a:r>
            <a:endParaRPr lang="en-US" sz="825" dirty="0"/>
          </a:p>
          <a:p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1000</a:t>
            </a:r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C=</a:t>
            </a:r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</a:t>
            </a:r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825" dirty="0"/>
          </a:p>
          <a:p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model.fit(X_train, y_train)</a:t>
            </a:r>
            <a:endParaRPr lang="en-US" sz="825" dirty="0"/>
          </a:p>
          <a:p>
            <a:pPr algn="l" indent="0" marL="0">
              <a:lnSpc>
                <a:spcPts val="1320"/>
              </a:lnSpc>
              <a:buNone/>
            </a:pPr>
            <a:endParaRPr lang="en-US" sz="825" dirty="0"/>
          </a:p>
          <a:p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y_pred = model.predict(X_test)</a:t>
            </a:r>
            <a:endParaRPr lang="en-US" sz="825" dirty="0"/>
          </a:p>
          <a:p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y_prob = model.predict_proba(X_test)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4705350" y="3035498"/>
            <a:ext cx="3905250" cy="1005780"/>
          </a:xfrm>
          <a:prstGeom prst="roundRect">
            <a:avLst>
              <a:gd name="adj" fmla="val 9470"/>
            </a:avLst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857750" y="3187898"/>
            <a:ext cx="367245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750"/>
              </a:spcAft>
              <a:buNone/>
            </a:pPr>
            <a:r>
              <a:rPr lang="en-US" sz="750" b="1" dirty="0">
                <a:solidFill>
                  <a:srgbClr val="BBF7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RESULTS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4849892" y="3416498"/>
            <a:ext cx="80152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79.9%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849892" y="3755529"/>
            <a:ext cx="80152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BBF7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5788104" y="3416498"/>
            <a:ext cx="80152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59.2%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788104" y="3755529"/>
            <a:ext cx="80152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BBF7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 Score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6726317" y="3416498"/>
            <a:ext cx="80152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64.3%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726317" y="3755529"/>
            <a:ext cx="80152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BBF7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7664529" y="3416498"/>
            <a:ext cx="80152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54.8%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664529" y="3755529"/>
            <a:ext cx="80152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BBF7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4705350" y="4174629"/>
            <a:ext cx="1905000" cy="699046"/>
          </a:xfrm>
          <a:prstGeom prst="roundRect">
            <a:avLst>
              <a:gd name="adj" fmla="val 10901"/>
            </a:avLst>
          </a:prstGeom>
          <a:solidFill>
            <a:srgbClr val="F0FDF4"/>
          </a:solidFill>
          <a:ln w="9525">
            <a:solidFill>
              <a:srgbClr val="86EFA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829175" y="4298454"/>
            <a:ext cx="169049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</a:t>
            </a:r>
            <a:endParaRPr lang="en-US" sz="825" dirty="0"/>
          </a:p>
        </p:txBody>
      </p:sp>
      <p:sp>
        <p:nvSpPr>
          <p:cNvPr id="31" name="Text 29"/>
          <p:cNvSpPr/>
          <p:nvPr/>
        </p:nvSpPr>
        <p:spPr>
          <a:xfrm>
            <a:off x="4829175" y="4483150"/>
            <a:ext cx="169049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Simple, fast, interpretable, probabilistic outputs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6705600" y="4174629"/>
            <a:ext cx="1905000" cy="699046"/>
          </a:xfrm>
          <a:prstGeom prst="roundRect">
            <a:avLst>
              <a:gd name="adj" fmla="val 10901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6829425" y="4298454"/>
            <a:ext cx="169049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</a:t>
            </a:r>
            <a:endParaRPr lang="en-US" sz="825" dirty="0"/>
          </a:p>
        </p:txBody>
      </p:sp>
      <p:sp>
        <p:nvSpPr>
          <p:cNvPr id="34" name="Text 32"/>
          <p:cNvSpPr/>
          <p:nvPr/>
        </p:nvSpPr>
        <p:spPr>
          <a:xfrm>
            <a:off x="6829425" y="4483150"/>
            <a:ext cx="169049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boundaries only, sensitive to outliers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381000"/>
            <a:ext cx="412908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0F4C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Decision Tree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3400" y="1113681"/>
            <a:ext cx="3905250" cy="816918"/>
          </a:xfrm>
          <a:prstGeom prst="roundRect">
            <a:avLst>
              <a:gd name="adj" fmla="val 11660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66750" y="1247031"/>
            <a:ext cx="371132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825" dirty="0"/>
          </a:p>
        </p:txBody>
      </p:sp>
      <p:sp>
        <p:nvSpPr>
          <p:cNvPr id="5" name="Text 3"/>
          <p:cNvSpPr/>
          <p:nvPr/>
        </p:nvSpPr>
        <p:spPr>
          <a:xfrm>
            <a:off x="666750" y="1450777"/>
            <a:ext cx="3711321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Recursively splits data on feature thresholds to create interpretable if-then-else rules.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533400" y="2044898"/>
            <a:ext cx="3905250" cy="1727746"/>
          </a:xfrm>
          <a:prstGeom prst="roundRect">
            <a:avLst>
              <a:gd name="adj" fmla="val 5513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49796" y="2197298"/>
            <a:ext cx="367245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Aft>
                <a:spcPts val="900"/>
              </a:spcAft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FLOW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676995" y="2444948"/>
            <a:ext cx="1618059" cy="298996"/>
          </a:xfrm>
          <a:prstGeom prst="roundRect">
            <a:avLst>
              <a:gd name="adj" fmla="val 19114"/>
            </a:avLst>
          </a:prstGeom>
          <a:solidFill>
            <a:srgbClr val="0F4C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816263" y="2521148"/>
            <a:ext cx="133952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 = Month-to-month?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1566118" y="3010644"/>
            <a:ext cx="957858" cy="285750"/>
          </a:xfrm>
          <a:prstGeom prst="roundRect">
            <a:avLst>
              <a:gd name="adj" fmla="val 20000"/>
            </a:avLst>
          </a:prstGeom>
          <a:solidFill>
            <a:srgbClr val="E85A4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692557" y="3086844"/>
            <a:ext cx="70498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Tenure &lt; 12mo?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2752576" y="3010644"/>
            <a:ext cx="653207" cy="285750"/>
          </a:xfrm>
          <a:prstGeom prst="roundRect">
            <a:avLst>
              <a:gd name="adj" fmla="val 20000"/>
            </a:avLst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882061" y="3086844"/>
            <a:ext cx="39423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Risk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415653" y="3372594"/>
            <a:ext cx="572542" cy="247650"/>
          </a:xfrm>
          <a:prstGeom prst="roundRect">
            <a:avLst>
              <a:gd name="adj" fmla="val 15385"/>
            </a:avLst>
          </a:prstGeom>
          <a:solidFill>
            <a:srgbClr val="DC26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526514" y="3429744"/>
            <a:ext cx="35082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CHURN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2140595" y="3372594"/>
            <a:ext cx="463302" cy="247650"/>
          </a:xfrm>
          <a:prstGeom prst="roundRect">
            <a:avLst>
              <a:gd name="adj" fmla="val 15385"/>
            </a:avLst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252548" y="3429744"/>
            <a:ext cx="23939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STAY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533400" y="3886944"/>
            <a:ext cx="3905250" cy="790426"/>
          </a:xfrm>
          <a:prstGeom prst="roundRect">
            <a:avLst>
              <a:gd name="adj" fmla="val 12050"/>
            </a:avLst>
          </a:prstGeom>
          <a:solidFill>
            <a:srgbClr val="FFF7ED"/>
          </a:solidFill>
          <a:ln w="9525">
            <a:solidFill>
              <a:srgbClr val="FED7A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57225" y="4010769"/>
            <a:ext cx="37307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Feature Importance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657225" y="4214515"/>
            <a:ext cx="373075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Contract:</a:t>
            </a:r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45.2% | </a:t>
            </a:r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OnlineSecurity:</a:t>
            </a:r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12.0%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57225" y="4393555"/>
            <a:ext cx="373075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150"/>
              </a:spcBef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Tenure:</a:t>
            </a:r>
            <a:pPr algn="l" indent="0" marL="0">
              <a:lnSpc>
                <a:spcPts val="1260"/>
              </a:lnSpc>
              <a:spcBef>
                <a:spcPts val="150"/>
              </a:spcBef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9.6% | </a:t>
            </a:r>
            <a:pPr algn="l" indent="0" marL="0">
              <a:lnSpc>
                <a:spcPts val="1260"/>
              </a:lnSpc>
              <a:spcBef>
                <a:spcPts val="150"/>
              </a:spcBef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MonthlyCharges:</a:t>
            </a:r>
            <a:pPr algn="l" indent="0" marL="0">
              <a:lnSpc>
                <a:spcPts val="1260"/>
              </a:lnSpc>
              <a:spcBef>
                <a:spcPts val="150"/>
              </a:spcBef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9.6%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705350" y="949970"/>
            <a:ext cx="3905250" cy="1984474"/>
          </a:xfrm>
          <a:prstGeom prst="roundRect">
            <a:avLst>
              <a:gd name="adj" fmla="val 4800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838700" y="1083320"/>
            <a:ext cx="371132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600"/>
              </a:spcAft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CODE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4838700" y="1292870"/>
            <a:ext cx="3711321" cy="150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</a:t>
            </a:r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sklearn.tree </a:t>
            </a:r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</a:t>
            </a:r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\</a:t>
            </a:r>
            <a:endParaRPr lang="en-US" sz="825" dirty="0"/>
          </a:p>
          <a:p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DecisionTreeClassifier</a:t>
            </a:r>
            <a:endParaRPr lang="en-US" sz="825" dirty="0"/>
          </a:p>
          <a:p>
            <a:pPr algn="l" indent="0" marL="0">
              <a:lnSpc>
                <a:spcPts val="1320"/>
              </a:lnSpc>
              <a:buNone/>
            </a:pPr>
            <a:endParaRPr lang="en-US" sz="825" dirty="0"/>
          </a:p>
          <a:p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model = DecisionTreeClassifier(</a:t>
            </a:r>
            <a:endParaRPr lang="en-US" sz="825" dirty="0"/>
          </a:p>
          <a:p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max_depth=</a:t>
            </a:r>
            <a:endParaRPr lang="en-US" sz="825" dirty="0"/>
          </a:p>
          <a:p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</a:t>
            </a:r>
            <a:endParaRPr lang="en-US" sz="825" dirty="0"/>
          </a:p>
          <a:p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min_samples_leaf=</a:t>
            </a:r>
            <a:endParaRPr lang="en-US" sz="825" dirty="0"/>
          </a:p>
          <a:p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</a:t>
            </a:r>
            <a:endParaRPr lang="en-US" sz="825" dirty="0"/>
          </a:p>
          <a:p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min_samples_split=</a:t>
            </a:r>
            <a:endParaRPr lang="en-US" sz="825" dirty="0"/>
          </a:p>
          <a:p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algn="l" indent="0" marL="0">
              <a:lnSpc>
                <a:spcPts val="1320"/>
              </a:lnSpc>
              <a:buNone/>
            </a:pPr>
            <a:endParaRPr lang="en-US" sz="825" dirty="0"/>
          </a:p>
          <a:p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)</a:t>
            </a:r>
            <a:endParaRPr lang="en-US" sz="825" dirty="0"/>
          </a:p>
          <a:p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model.fit(X_train, y_train)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4705350" y="3048744"/>
            <a:ext cx="3905250" cy="979140"/>
          </a:xfrm>
          <a:prstGeom prst="roundRect">
            <a:avLst>
              <a:gd name="adj" fmla="val 9728"/>
            </a:avLst>
          </a:prstGeom>
          <a:solidFill>
            <a:srgbClr val="0F4C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857750" y="3201144"/>
            <a:ext cx="367245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750"/>
              </a:spcAft>
              <a:buNone/>
            </a:pPr>
            <a:r>
              <a:rPr lang="en-US" sz="750" b="1" dirty="0">
                <a:solidFill>
                  <a:srgbClr val="7DD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RESULTS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4849892" y="3429744"/>
            <a:ext cx="801529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1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78.1%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4849892" y="3742134"/>
            <a:ext cx="80152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7DD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5788104" y="3429744"/>
            <a:ext cx="801529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1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56.5%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5788104" y="3742134"/>
            <a:ext cx="80152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7DD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 Score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6726317" y="3429744"/>
            <a:ext cx="801529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1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59.9%</a:t>
            </a:r>
            <a:endParaRPr lang="en-US" sz="1650" dirty="0"/>
          </a:p>
        </p:txBody>
      </p:sp>
      <p:sp>
        <p:nvSpPr>
          <p:cNvPr id="32" name="Text 30"/>
          <p:cNvSpPr/>
          <p:nvPr/>
        </p:nvSpPr>
        <p:spPr>
          <a:xfrm>
            <a:off x="6726317" y="3742134"/>
            <a:ext cx="80152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7DD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7664529" y="3429744"/>
            <a:ext cx="801529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1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53.5%</a:t>
            </a:r>
            <a:endParaRPr lang="en-US" sz="1650" dirty="0"/>
          </a:p>
        </p:txBody>
      </p:sp>
      <p:sp>
        <p:nvSpPr>
          <p:cNvPr id="34" name="Text 32"/>
          <p:cNvSpPr/>
          <p:nvPr/>
        </p:nvSpPr>
        <p:spPr>
          <a:xfrm>
            <a:off x="7664529" y="3742134"/>
            <a:ext cx="80152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7DD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4705350" y="4142184"/>
            <a:ext cx="1905000" cy="699046"/>
          </a:xfrm>
          <a:prstGeom prst="roundRect">
            <a:avLst>
              <a:gd name="adj" fmla="val 10901"/>
            </a:avLst>
          </a:prstGeom>
          <a:solidFill>
            <a:srgbClr val="F0FDF4"/>
          </a:solidFill>
          <a:ln w="9525">
            <a:solidFill>
              <a:srgbClr val="86EFA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829175" y="4266009"/>
            <a:ext cx="169049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</a:t>
            </a:r>
            <a:endParaRPr lang="en-US" sz="825" dirty="0"/>
          </a:p>
        </p:txBody>
      </p:sp>
      <p:sp>
        <p:nvSpPr>
          <p:cNvPr id="37" name="Text 35"/>
          <p:cNvSpPr/>
          <p:nvPr/>
        </p:nvSpPr>
        <p:spPr>
          <a:xfrm>
            <a:off x="4829175" y="4450705"/>
            <a:ext cx="169049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Highly interpretable, no feature scaling, handles non-linear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6705600" y="4142184"/>
            <a:ext cx="1905000" cy="699046"/>
          </a:xfrm>
          <a:prstGeom prst="roundRect">
            <a:avLst>
              <a:gd name="adj" fmla="val 10901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6829425" y="4266009"/>
            <a:ext cx="169049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</a:t>
            </a:r>
            <a:endParaRPr lang="en-US" sz="825" dirty="0"/>
          </a:p>
        </p:txBody>
      </p:sp>
      <p:sp>
        <p:nvSpPr>
          <p:cNvPr id="40" name="Text 38"/>
          <p:cNvSpPr/>
          <p:nvPr/>
        </p:nvSpPr>
        <p:spPr>
          <a:xfrm>
            <a:off x="6829425" y="4450705"/>
            <a:ext cx="169049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Prone to overfitting, unstable to small changes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247650"/>
            <a:ext cx="412908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0F4C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K-Nearest Neighbors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3400" y="1245096"/>
            <a:ext cx="3905250" cy="816918"/>
          </a:xfrm>
          <a:prstGeom prst="roundRect">
            <a:avLst>
              <a:gd name="adj" fmla="val 11660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66750" y="1378446"/>
            <a:ext cx="371132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INSTANCE-BASED LEARNING</a:t>
            </a:r>
            <a:endParaRPr lang="en-US" sz="825" dirty="0"/>
          </a:p>
        </p:txBody>
      </p:sp>
      <p:sp>
        <p:nvSpPr>
          <p:cNvPr id="5" name="Text 3"/>
          <p:cNvSpPr/>
          <p:nvPr/>
        </p:nvSpPr>
        <p:spPr>
          <a:xfrm>
            <a:off x="666750" y="1582192"/>
            <a:ext cx="3711321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"lazy learner" that stores all training data and classifies new points by majority vote of K nearest neighbors.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533400" y="2138214"/>
            <a:ext cx="3905250" cy="1695450"/>
          </a:xfrm>
          <a:prstGeom prst="roundRect">
            <a:avLst>
              <a:gd name="adj" fmla="val 5618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49796" y="2290614"/>
            <a:ext cx="367245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Aft>
                <a:spcPts val="750"/>
              </a:spcAft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K=23 CLASSIFICATION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685800" y="2519214"/>
            <a:ext cx="3600450" cy="95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232446" y="2715369"/>
            <a:ext cx="133350" cy="133350"/>
          </a:xfrm>
          <a:prstGeom prst="roundRect">
            <a:avLst>
              <a:gd name="adj" fmla="val 685714"/>
            </a:avLst>
          </a:prstGeom>
          <a:solidFill>
            <a:srgbClr val="0F4C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483221" y="3042047"/>
            <a:ext cx="133350" cy="133350"/>
          </a:xfrm>
          <a:prstGeom prst="roundRect">
            <a:avLst>
              <a:gd name="adj" fmla="val 685714"/>
            </a:avLst>
          </a:prstGeom>
          <a:solidFill>
            <a:srgbClr val="0F4C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124992" y="3182094"/>
            <a:ext cx="133350" cy="133350"/>
          </a:xfrm>
          <a:prstGeom prst="roundRect">
            <a:avLst>
              <a:gd name="adj" fmla="val 685714"/>
            </a:avLst>
          </a:prstGeom>
          <a:solidFill>
            <a:srgbClr val="0F4C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697980" y="2855416"/>
            <a:ext cx="133350" cy="133350"/>
          </a:xfrm>
          <a:prstGeom prst="roundRect">
            <a:avLst>
              <a:gd name="adj" fmla="val 685714"/>
            </a:avLst>
          </a:prstGeom>
          <a:solidFill>
            <a:srgbClr val="0F4C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130600" y="2762101"/>
            <a:ext cx="133350" cy="133350"/>
          </a:xfrm>
          <a:prstGeom prst="roundRect">
            <a:avLst>
              <a:gd name="adj" fmla="val 685714"/>
            </a:avLst>
          </a:prstGeom>
          <a:solidFill>
            <a:srgbClr val="E85A4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381375" y="2995464"/>
            <a:ext cx="133350" cy="133350"/>
          </a:xfrm>
          <a:prstGeom prst="roundRect">
            <a:avLst>
              <a:gd name="adj" fmla="val 685714"/>
            </a:avLst>
          </a:prstGeom>
          <a:solidFill>
            <a:srgbClr val="E85A4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023146" y="3182094"/>
            <a:ext cx="133350" cy="133350"/>
          </a:xfrm>
          <a:prstGeom prst="roundRect">
            <a:avLst>
              <a:gd name="adj" fmla="val 685714"/>
            </a:avLst>
          </a:prstGeom>
          <a:solidFill>
            <a:srgbClr val="E85A4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560415" y="2855416"/>
            <a:ext cx="133350" cy="133350"/>
          </a:xfrm>
          <a:prstGeom prst="roundRect">
            <a:avLst>
              <a:gd name="adj" fmla="val 685714"/>
            </a:avLst>
          </a:prstGeom>
          <a:solidFill>
            <a:srgbClr val="E85A4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306836" y="2948732"/>
            <a:ext cx="171450" cy="171450"/>
          </a:xfrm>
          <a:prstGeom prst="roundRect">
            <a:avLst>
              <a:gd name="adj" fmla="val 533333"/>
            </a:avLst>
          </a:prstGeom>
          <a:solidFill>
            <a:srgbClr val="059669"/>
          </a:solidFill>
          <a:ln w="28575">
            <a:solidFill>
              <a:srgbClr val="1E293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590675" y="2622054"/>
            <a:ext cx="1333500" cy="952500"/>
          </a:xfrm>
          <a:prstGeom prst="roundRect">
            <a:avLst>
              <a:gd name="adj" fmla="val 96000"/>
            </a:avLst>
          </a:prstGeom>
          <a:noFill/>
          <a:ln w="19050">
            <a:solidFill>
              <a:srgbClr val="8B5CF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574899" y="3566964"/>
            <a:ext cx="114300" cy="114300"/>
          </a:xfrm>
          <a:prstGeom prst="roundRect">
            <a:avLst>
              <a:gd name="adj" fmla="val 800000"/>
            </a:avLst>
          </a:prstGeom>
          <a:solidFill>
            <a:srgbClr val="0F4C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2344638" y="3566964"/>
            <a:ext cx="114300" cy="114300"/>
          </a:xfrm>
          <a:prstGeom prst="roundRect">
            <a:avLst>
              <a:gd name="adj" fmla="val 800000"/>
            </a:avLst>
          </a:prstGeom>
          <a:solidFill>
            <a:srgbClr val="E85A4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2966145" y="3566964"/>
            <a:ext cx="114300" cy="114300"/>
          </a:xfrm>
          <a:prstGeom prst="roundRect">
            <a:avLst>
              <a:gd name="adj" fmla="val 800000"/>
            </a:avLst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33400" y="3909864"/>
            <a:ext cx="3905250" cy="578941"/>
          </a:xfrm>
          <a:prstGeom prst="roundRect">
            <a:avLst>
              <a:gd name="adj" fmla="val 16452"/>
            </a:avLst>
          </a:prstGeom>
          <a:solidFill>
            <a:srgbClr val="FEF3C7"/>
          </a:solidFill>
          <a:ln w="9525">
            <a:solidFill>
              <a:srgbClr val="FCD34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57225" y="4033689"/>
            <a:ext cx="37307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Critical: Feature Scaling Required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657225" y="4218384"/>
            <a:ext cx="37307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scaling, features with larger ranges dominate distance calculations!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4705350" y="727174"/>
            <a:ext cx="3905250" cy="2487216"/>
          </a:xfrm>
          <a:prstGeom prst="roundRect">
            <a:avLst>
              <a:gd name="adj" fmla="val 3830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838700" y="860524"/>
            <a:ext cx="371132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600"/>
              </a:spcAft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CODE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4838700" y="1070074"/>
            <a:ext cx="3711321" cy="2010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</a:t>
            </a:r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sklearn.neighbors </a:t>
            </a:r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</a:t>
            </a:r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\</a:t>
            </a:r>
            <a:endParaRPr lang="en-US" sz="825" dirty="0"/>
          </a:p>
          <a:p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KNeighborsClassifier</a:t>
            </a:r>
            <a:endParaRPr lang="en-US" sz="825" dirty="0"/>
          </a:p>
          <a:p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25" dirty="0"/>
          </a:p>
          <a:p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</a:t>
            </a:r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sklearn.preprocessing </a:t>
            </a:r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</a:t>
            </a:r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\</a:t>
            </a:r>
            <a:endParaRPr lang="en-US" sz="825" dirty="0"/>
          </a:p>
          <a:p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StandardScaler</a:t>
            </a:r>
            <a:endParaRPr lang="en-US" sz="825" dirty="0"/>
          </a:p>
          <a:p>
            <a:pPr algn="l" indent="0" marL="0">
              <a:lnSpc>
                <a:spcPts val="1320"/>
              </a:lnSpc>
              <a:buNone/>
            </a:pPr>
            <a:endParaRPr lang="en-US" sz="825" dirty="0"/>
          </a:p>
          <a:p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scaler = StandardScaler()</a:t>
            </a:r>
            <a:endParaRPr lang="en-US" sz="825" dirty="0"/>
          </a:p>
          <a:p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X_scaled = scaler.fit_transform(X)</a:t>
            </a:r>
            <a:endParaRPr lang="en-US" sz="825" dirty="0"/>
          </a:p>
          <a:p>
            <a:pPr algn="l" indent="0" marL="0">
              <a:lnSpc>
                <a:spcPts val="1320"/>
              </a:lnSpc>
              <a:buNone/>
            </a:pPr>
            <a:endParaRPr lang="en-US" sz="825" dirty="0"/>
          </a:p>
          <a:p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model = KNeighborsClassifier(</a:t>
            </a:r>
            <a:endParaRPr lang="en-US" sz="825" dirty="0"/>
          </a:p>
          <a:p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n_neighbors=</a:t>
            </a:r>
            <a:endParaRPr lang="en-US" sz="825" dirty="0"/>
          </a:p>
          <a:p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</a:t>
            </a:r>
            <a:endParaRPr lang="en-US" sz="825" dirty="0"/>
          </a:p>
          <a:p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weights=</a:t>
            </a:r>
            <a:endParaRPr lang="en-US" sz="825" dirty="0"/>
          </a:p>
          <a:p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A5F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'distance'</a:t>
            </a:r>
            <a:pPr algn="l" indent="0" marL="0">
              <a:lnSpc>
                <a:spcPts val="1320"/>
              </a:lnSpc>
              <a:buNone/>
            </a:pPr>
            <a:endParaRPr lang="en-US" sz="825" dirty="0"/>
          </a:p>
          <a:p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)</a:t>
            </a:r>
            <a:endParaRPr lang="en-US" sz="825" dirty="0"/>
          </a:p>
        </p:txBody>
      </p:sp>
      <p:sp>
        <p:nvSpPr>
          <p:cNvPr id="28" name="Text 26"/>
          <p:cNvSpPr/>
          <p:nvPr/>
        </p:nvSpPr>
        <p:spPr>
          <a:xfrm>
            <a:off x="4705350" y="3290590"/>
            <a:ext cx="3905250" cy="979140"/>
          </a:xfrm>
          <a:prstGeom prst="roundRect">
            <a:avLst>
              <a:gd name="adj" fmla="val 9728"/>
            </a:avLst>
          </a:prstGeom>
          <a:solidFill>
            <a:srgbClr val="0F4C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857750" y="3442990"/>
            <a:ext cx="367245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750"/>
              </a:spcAft>
              <a:buNone/>
            </a:pPr>
            <a:r>
              <a:rPr lang="en-US" sz="750" b="1" dirty="0">
                <a:solidFill>
                  <a:srgbClr val="7DD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RESULTS (K=23)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4849892" y="3671590"/>
            <a:ext cx="801529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1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76.8%</a:t>
            </a:r>
            <a:endParaRPr lang="en-US" sz="1650" dirty="0"/>
          </a:p>
        </p:txBody>
      </p:sp>
      <p:sp>
        <p:nvSpPr>
          <p:cNvPr id="31" name="Text 29"/>
          <p:cNvSpPr/>
          <p:nvPr/>
        </p:nvSpPr>
        <p:spPr>
          <a:xfrm>
            <a:off x="4849892" y="3983980"/>
            <a:ext cx="80152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7DD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5788104" y="3671590"/>
            <a:ext cx="801529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1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54.8%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5788104" y="3983980"/>
            <a:ext cx="80152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7DD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 Score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6726317" y="3671590"/>
            <a:ext cx="801529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1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56.7%</a:t>
            </a:r>
            <a:endParaRPr lang="en-US" sz="1650" dirty="0"/>
          </a:p>
        </p:txBody>
      </p:sp>
      <p:sp>
        <p:nvSpPr>
          <p:cNvPr id="35" name="Text 33"/>
          <p:cNvSpPr/>
          <p:nvPr/>
        </p:nvSpPr>
        <p:spPr>
          <a:xfrm>
            <a:off x="6726317" y="3983980"/>
            <a:ext cx="80152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7DD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7664529" y="3671590"/>
            <a:ext cx="801529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1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52.9%</a:t>
            </a:r>
            <a:endParaRPr lang="en-US" sz="1650" dirty="0"/>
          </a:p>
        </p:txBody>
      </p:sp>
      <p:sp>
        <p:nvSpPr>
          <p:cNvPr id="37" name="Text 35"/>
          <p:cNvSpPr/>
          <p:nvPr/>
        </p:nvSpPr>
        <p:spPr>
          <a:xfrm>
            <a:off x="7664529" y="3983980"/>
            <a:ext cx="80152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7DD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4705350" y="4345930"/>
            <a:ext cx="1914525" cy="660946"/>
          </a:xfrm>
          <a:prstGeom prst="roundRect">
            <a:avLst>
              <a:gd name="adj" fmla="val 11529"/>
            </a:avLst>
          </a:prstGeom>
          <a:solidFill>
            <a:srgbClr val="F0FDF4"/>
          </a:solidFill>
          <a:ln w="9525">
            <a:solidFill>
              <a:srgbClr val="86EFA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4810125" y="4450705"/>
            <a:ext cx="173907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</a:t>
            </a:r>
            <a:endParaRPr lang="en-US" sz="825" dirty="0"/>
          </a:p>
        </p:txBody>
      </p:sp>
      <p:sp>
        <p:nvSpPr>
          <p:cNvPr id="40" name="Text 38"/>
          <p:cNvSpPr/>
          <p:nvPr/>
        </p:nvSpPr>
        <p:spPr>
          <a:xfrm>
            <a:off x="4810125" y="4635401"/>
            <a:ext cx="1739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Simple, no training phase, non-parametric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6696075" y="4412605"/>
            <a:ext cx="1914525" cy="527596"/>
          </a:xfrm>
          <a:prstGeom prst="roundRect">
            <a:avLst>
              <a:gd name="adj" fmla="val 14443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6800850" y="4517380"/>
            <a:ext cx="173907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</a:t>
            </a:r>
            <a:endParaRPr lang="en-US" sz="825" dirty="0"/>
          </a:p>
        </p:txBody>
      </p:sp>
      <p:sp>
        <p:nvSpPr>
          <p:cNvPr id="43" name="Text 41"/>
          <p:cNvSpPr/>
          <p:nvPr/>
        </p:nvSpPr>
        <p:spPr>
          <a:xfrm>
            <a:off x="6800850" y="4702076"/>
            <a:ext cx="17390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 O(n) prediction, memory intensive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250" y="304800"/>
            <a:ext cx="418738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0F4C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Support Vector Machine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76250" y="1284982"/>
            <a:ext cx="3962400" cy="716012"/>
          </a:xfrm>
          <a:prstGeom prst="roundRect">
            <a:avLst>
              <a:gd name="adj" fmla="val 13303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71500" y="1380232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MAXIMUM MARGIN CLASSIFIER</a:t>
            </a:r>
            <a:endParaRPr lang="en-US" sz="825" dirty="0"/>
          </a:p>
        </p:txBody>
      </p:sp>
      <p:sp>
        <p:nvSpPr>
          <p:cNvPr id="5" name="Text 3"/>
          <p:cNvSpPr/>
          <p:nvPr/>
        </p:nvSpPr>
        <p:spPr>
          <a:xfrm>
            <a:off x="571500" y="1583978"/>
            <a:ext cx="3847338" cy="3217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8"/>
              </a:lnSpc>
              <a:buNone/>
            </a:pPr>
            <a:r>
              <a:rPr lang="en-US" sz="9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Finds the optimal hyperplane that maximizes the margin between classes. Support vectors are the critical boundary points.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476250" y="2058144"/>
            <a:ext cx="3962400" cy="1695450"/>
          </a:xfrm>
          <a:prstGeom prst="roundRect">
            <a:avLst>
              <a:gd name="adj" fmla="val 5618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92074" y="2210544"/>
            <a:ext cx="373075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Aft>
                <a:spcPts val="750"/>
              </a:spcAft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MAXIMUM MARGIN HYPERPLANE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628650" y="2439144"/>
            <a:ext cx="3657600" cy="95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074688" y="2635300"/>
            <a:ext cx="114300" cy="114300"/>
          </a:xfrm>
          <a:prstGeom prst="roundRect">
            <a:avLst>
              <a:gd name="adj" fmla="val 800000"/>
            </a:avLst>
          </a:prstGeom>
          <a:solidFill>
            <a:srgbClr val="0F4C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293019" y="2915394"/>
            <a:ext cx="114300" cy="114300"/>
          </a:xfrm>
          <a:prstGeom prst="roundRect">
            <a:avLst>
              <a:gd name="adj" fmla="val 800000"/>
            </a:avLst>
          </a:prstGeom>
          <a:solidFill>
            <a:srgbClr val="0F4C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547813" y="2775347"/>
            <a:ext cx="133350" cy="133350"/>
          </a:xfrm>
          <a:prstGeom prst="roundRect">
            <a:avLst>
              <a:gd name="adj" fmla="val 685714"/>
            </a:avLst>
          </a:prstGeom>
          <a:solidFill>
            <a:srgbClr val="0F4C81"/>
          </a:solidFill>
          <a:ln w="28575">
            <a:solidFill>
              <a:srgbClr val="1E293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183928" y="3148757"/>
            <a:ext cx="114300" cy="114300"/>
          </a:xfrm>
          <a:prstGeom prst="roundRect">
            <a:avLst>
              <a:gd name="adj" fmla="val 800000"/>
            </a:avLst>
          </a:prstGeom>
          <a:solidFill>
            <a:srgbClr val="0F4C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185071" y="2682032"/>
            <a:ext cx="114300" cy="114300"/>
          </a:xfrm>
          <a:prstGeom prst="roundRect">
            <a:avLst>
              <a:gd name="adj" fmla="val 800000"/>
            </a:avLst>
          </a:prstGeom>
          <a:solidFill>
            <a:srgbClr val="E85A4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476179" y="2961977"/>
            <a:ext cx="114300" cy="114300"/>
          </a:xfrm>
          <a:prstGeom prst="roundRect">
            <a:avLst>
              <a:gd name="adj" fmla="val 800000"/>
            </a:avLst>
          </a:prstGeom>
          <a:solidFill>
            <a:srgbClr val="E85A4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930426" y="2915394"/>
            <a:ext cx="133350" cy="133350"/>
          </a:xfrm>
          <a:prstGeom prst="roundRect">
            <a:avLst>
              <a:gd name="adj" fmla="val 685714"/>
            </a:avLst>
          </a:prstGeom>
          <a:solidFill>
            <a:srgbClr val="E85A4F"/>
          </a:solidFill>
          <a:ln w="28575">
            <a:solidFill>
              <a:srgbClr val="1E293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367088" y="3148757"/>
            <a:ext cx="114300" cy="114300"/>
          </a:xfrm>
          <a:prstGeom prst="roundRect">
            <a:avLst>
              <a:gd name="adj" fmla="val 800000"/>
            </a:avLst>
          </a:prstGeom>
          <a:solidFill>
            <a:srgbClr val="E85A4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239119" y="2448669"/>
            <a:ext cx="28575" cy="933450"/>
          </a:xfrm>
          <a:prstGeom prst="rect">
            <a:avLst/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1739205" y="2448669"/>
            <a:ext cx="0" cy="93345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57934" y="2448669"/>
            <a:ext cx="0" cy="93345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911548" y="2524869"/>
            <a:ext cx="595461" cy="15805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968698" y="2543919"/>
            <a:ext cx="49078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margin →</a:t>
            </a:r>
            <a:endParaRPr lang="en-US" sz="675" dirty="0"/>
          </a:p>
        </p:txBody>
      </p:sp>
      <p:sp>
        <p:nvSpPr>
          <p:cNvPr id="22" name="Text 20"/>
          <p:cNvSpPr/>
          <p:nvPr/>
        </p:nvSpPr>
        <p:spPr>
          <a:xfrm>
            <a:off x="592074" y="3467844"/>
            <a:ext cx="373075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600"/>
              </a:spcBef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Circled points = Support Vectors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476250" y="3810744"/>
            <a:ext cx="3962400" cy="676275"/>
          </a:xfrm>
          <a:prstGeom prst="roundRect">
            <a:avLst>
              <a:gd name="adj" fmla="val 14085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90550" y="3925044"/>
            <a:ext cx="380847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600"/>
              </a:spcAft>
              <a:buNone/>
            </a:pPr>
            <a:r>
              <a:rPr lang="en-US" sz="75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KERNEL FUNCTIONS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4705350" y="1049982"/>
            <a:ext cx="3962400" cy="2075855"/>
          </a:xfrm>
          <a:prstGeom prst="roundRect">
            <a:avLst>
              <a:gd name="adj" fmla="val 4588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800600" y="1145232"/>
            <a:ext cx="384733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600"/>
              </a:spcAft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CODE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4800600" y="1354782"/>
            <a:ext cx="3847338" cy="167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</a:t>
            </a:r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sklearn.svm </a:t>
            </a:r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</a:t>
            </a:r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SVC</a:t>
            </a:r>
            <a:endParaRPr lang="en-US" sz="825" dirty="0"/>
          </a:p>
          <a:p>
            <a:pPr algn="l" indent="0" marL="0">
              <a:lnSpc>
                <a:spcPts val="1320"/>
              </a:lnSpc>
              <a:buNone/>
            </a:pPr>
            <a:endParaRPr lang="en-US" sz="825" dirty="0"/>
          </a:p>
          <a:p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model = SVC(</a:t>
            </a:r>
            <a:endParaRPr lang="en-US" sz="825" dirty="0"/>
          </a:p>
          <a:p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kernel=</a:t>
            </a:r>
            <a:endParaRPr lang="en-US" sz="825" dirty="0"/>
          </a:p>
          <a:p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A5F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'linear'</a:t>
            </a:r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</a:t>
            </a:r>
            <a:endParaRPr lang="en-US" sz="825" dirty="0"/>
          </a:p>
          <a:p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C=</a:t>
            </a:r>
            <a:endParaRPr lang="en-US" sz="825" dirty="0"/>
          </a:p>
          <a:p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</a:t>
            </a:r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</a:t>
            </a:r>
            <a:endParaRPr lang="en-US" sz="825" dirty="0"/>
          </a:p>
          <a:p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probability=</a:t>
            </a:r>
            <a:endParaRPr lang="en-US" sz="825" dirty="0"/>
          </a:p>
          <a:p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True</a:t>
            </a:r>
            <a:pPr algn="l" indent="0" marL="0">
              <a:lnSpc>
                <a:spcPts val="1320"/>
              </a:lnSpc>
              <a:buNone/>
            </a:pPr>
            <a:endParaRPr lang="en-US" sz="825" dirty="0"/>
          </a:p>
          <a:p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)</a:t>
            </a:r>
            <a:endParaRPr lang="en-US" sz="825" dirty="0"/>
          </a:p>
          <a:p>
            <a:pPr algn="l" indent="0" marL="0">
              <a:lnSpc>
                <a:spcPts val="1320"/>
              </a:lnSpc>
              <a:buNone/>
            </a:pPr>
            <a:endParaRPr lang="en-US" sz="825" dirty="0"/>
          </a:p>
          <a:p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25" dirty="0"/>
          </a:p>
          <a:p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 Requires scaled features!</a:t>
            </a:r>
            <a:pPr algn="l" indent="0" marL="0">
              <a:lnSpc>
                <a:spcPts val="1320"/>
              </a:lnSpc>
              <a:buNone/>
            </a:pPr>
            <a:endParaRPr lang="en-US" sz="825" dirty="0"/>
          </a:p>
          <a:p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model.fit(X_train_scaled, y_train)</a:t>
            </a:r>
            <a:endParaRPr lang="en-US" sz="825" dirty="0"/>
          </a:p>
        </p:txBody>
      </p:sp>
      <p:sp>
        <p:nvSpPr>
          <p:cNvPr id="28" name="Text 26"/>
          <p:cNvSpPr/>
          <p:nvPr/>
        </p:nvSpPr>
        <p:spPr>
          <a:xfrm>
            <a:off x="4705350" y="3182987"/>
            <a:ext cx="3962400" cy="979140"/>
          </a:xfrm>
          <a:prstGeom prst="roundRect">
            <a:avLst>
              <a:gd name="adj" fmla="val 9728"/>
            </a:avLst>
          </a:prstGeom>
          <a:solidFill>
            <a:srgbClr val="0F4C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857750" y="3335387"/>
            <a:ext cx="373075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750"/>
              </a:spcAft>
              <a:buNone/>
            </a:pPr>
            <a:r>
              <a:rPr lang="en-US" sz="750" b="1" dirty="0">
                <a:solidFill>
                  <a:srgbClr val="7DD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RESULTS (LINEAR KERNEL)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4849749" y="3563987"/>
            <a:ext cx="816102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1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78.8%</a:t>
            </a:r>
            <a:endParaRPr lang="en-US" sz="1650" dirty="0"/>
          </a:p>
        </p:txBody>
      </p:sp>
      <p:sp>
        <p:nvSpPr>
          <p:cNvPr id="31" name="Text 29"/>
          <p:cNvSpPr/>
          <p:nvPr/>
        </p:nvSpPr>
        <p:spPr>
          <a:xfrm>
            <a:off x="4849749" y="3876377"/>
            <a:ext cx="81610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7DD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5802249" y="3563987"/>
            <a:ext cx="816102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1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56.6%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5802249" y="3876377"/>
            <a:ext cx="81610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7DD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 Score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6754749" y="3563987"/>
            <a:ext cx="816102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1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61.9%</a:t>
            </a:r>
            <a:endParaRPr lang="en-US" sz="1650" dirty="0"/>
          </a:p>
        </p:txBody>
      </p:sp>
      <p:sp>
        <p:nvSpPr>
          <p:cNvPr id="35" name="Text 33"/>
          <p:cNvSpPr/>
          <p:nvPr/>
        </p:nvSpPr>
        <p:spPr>
          <a:xfrm>
            <a:off x="6754749" y="3876377"/>
            <a:ext cx="81610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7DD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7707249" y="3563987"/>
            <a:ext cx="816102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1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52.1%</a:t>
            </a:r>
            <a:endParaRPr lang="en-US" sz="1650" dirty="0"/>
          </a:p>
        </p:txBody>
      </p:sp>
      <p:sp>
        <p:nvSpPr>
          <p:cNvPr id="37" name="Text 35"/>
          <p:cNvSpPr/>
          <p:nvPr/>
        </p:nvSpPr>
        <p:spPr>
          <a:xfrm>
            <a:off x="7707249" y="3876377"/>
            <a:ext cx="81610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7DD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4705350" y="4219277"/>
            <a:ext cx="3962400" cy="502890"/>
          </a:xfrm>
          <a:prstGeom prst="roundRect">
            <a:avLst>
              <a:gd name="adj" fmla="val 1894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4791075" y="4305002"/>
            <a:ext cx="386676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KERNEL COMPARISON (F1 SCORE)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4791075" y="4476452"/>
            <a:ext cx="386676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Linear: 56.6%</a:t>
            </a:r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| RBF: 55.2% | Poly: 53.1%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381000"/>
            <a:ext cx="412908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0F4C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Ensemble Methods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3400" y="762000"/>
            <a:ext cx="823874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600"/>
              </a:spcBef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Combining multiple models for stronger predictions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33400" y="1355378"/>
            <a:ext cx="2565350" cy="3343126"/>
          </a:xfrm>
          <a:prstGeom prst="roundRect">
            <a:avLst>
              <a:gd name="adj" fmla="val 4456"/>
            </a:avLst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42950" y="1564928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0F4C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219200" y="1635472"/>
            <a:ext cx="69951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Bagging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42950" y="2060228"/>
            <a:ext cx="2189175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multiple models on random subsets of data (bootstrap samples), then aggregate predictions.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42950" y="2688878"/>
            <a:ext cx="2146250" cy="586680"/>
          </a:xfrm>
          <a:prstGeom prst="roundRect">
            <a:avLst>
              <a:gd name="adj" fmla="val 12988"/>
            </a:avLst>
          </a:prstGeom>
          <a:solidFill>
            <a:srgbClr val="0F4C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57250" y="2803178"/>
            <a:ext cx="195600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7DD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57250" y="2974628"/>
            <a:ext cx="195600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300"/>
              </a:spcBef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42950" y="3389858"/>
            <a:ext cx="2146250" cy="4953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073051" y="3523208"/>
            <a:ext cx="228600" cy="228600"/>
          </a:xfrm>
          <a:prstGeom prst="roundRect">
            <a:avLst>
              <a:gd name="adj" fmla="val 16667"/>
            </a:avLst>
          </a:prstGeom>
          <a:solidFill>
            <a:srgbClr val="7DD3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358801" y="3523208"/>
            <a:ext cx="228600" cy="228600"/>
          </a:xfrm>
          <a:prstGeom prst="roundRect">
            <a:avLst>
              <a:gd name="adj" fmla="val 16667"/>
            </a:avLst>
          </a:prstGeom>
          <a:solidFill>
            <a:srgbClr val="7DD3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644551" y="3523208"/>
            <a:ext cx="228600" cy="228600"/>
          </a:xfrm>
          <a:prstGeom prst="roundRect">
            <a:avLst>
              <a:gd name="adj" fmla="val 16667"/>
            </a:avLst>
          </a:prstGeom>
          <a:solidFill>
            <a:srgbClr val="7DD3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254151" y="3485108"/>
            <a:ext cx="304800" cy="304800"/>
          </a:xfrm>
          <a:prstGeom prst="roundRect">
            <a:avLst>
              <a:gd name="adj" fmla="val 18750"/>
            </a:avLst>
          </a:prstGeom>
          <a:solidFill>
            <a:srgbClr val="0F4C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42950" y="3999458"/>
            <a:ext cx="2146250" cy="489496"/>
          </a:xfrm>
          <a:prstGeom prst="roundRect">
            <a:avLst>
              <a:gd name="adj" fmla="val 11675"/>
            </a:avLst>
          </a:prstGeom>
          <a:solidFill>
            <a:srgbClr val="DBEA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38200" y="4094708"/>
            <a:ext cx="199486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Reduces Variance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838200" y="4260354"/>
            <a:ext cx="199486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Prevents overfitting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3289250" y="1355378"/>
            <a:ext cx="2565350" cy="3343126"/>
          </a:xfrm>
          <a:prstGeom prst="roundRect">
            <a:avLst>
              <a:gd name="adj" fmla="val 4456"/>
            </a:avLst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498800" y="1564928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E85A4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975050" y="1635472"/>
            <a:ext cx="757809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E85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Boosting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3498800" y="2060228"/>
            <a:ext cx="2189175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models sequentially, each focusing on correcting errors from previous models.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498800" y="2688878"/>
            <a:ext cx="2146250" cy="586680"/>
          </a:xfrm>
          <a:prstGeom prst="roundRect">
            <a:avLst>
              <a:gd name="adj" fmla="val 12988"/>
            </a:avLst>
          </a:prstGeom>
          <a:solidFill>
            <a:srgbClr val="E85A4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613100" y="2803178"/>
            <a:ext cx="195600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ECA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3613100" y="2974628"/>
            <a:ext cx="195600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300"/>
              </a:spcBef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AdaBoost, Gradient Boosting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498800" y="3389858"/>
            <a:ext cx="2146250" cy="4953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3924151" y="3523208"/>
            <a:ext cx="228600" cy="228600"/>
          </a:xfrm>
          <a:prstGeom prst="roundRect">
            <a:avLst>
              <a:gd name="adj" fmla="val 16667"/>
            </a:avLst>
          </a:prstGeom>
          <a:solidFill>
            <a:srgbClr val="FECAC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419451" y="3523208"/>
            <a:ext cx="228600" cy="228600"/>
          </a:xfrm>
          <a:prstGeom prst="roundRect">
            <a:avLst>
              <a:gd name="adj" fmla="val 16667"/>
            </a:avLst>
          </a:prstGeom>
          <a:solidFill>
            <a:srgbClr val="F8717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914751" y="3485108"/>
            <a:ext cx="304800" cy="304800"/>
          </a:xfrm>
          <a:prstGeom prst="roundRect">
            <a:avLst>
              <a:gd name="adj" fmla="val 18750"/>
            </a:avLst>
          </a:prstGeom>
          <a:solidFill>
            <a:srgbClr val="E85A4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3498800" y="3999458"/>
            <a:ext cx="2146250" cy="489496"/>
          </a:xfrm>
          <a:prstGeom prst="roundRect">
            <a:avLst>
              <a:gd name="adj" fmla="val 11675"/>
            </a:avLst>
          </a:prstGeom>
          <a:solidFill>
            <a:srgbClr val="FEE2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3594050" y="4094708"/>
            <a:ext cx="199486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Reduces Bias</a:t>
            </a:r>
            <a:endParaRPr lang="en-US" sz="825" dirty="0"/>
          </a:p>
        </p:txBody>
      </p:sp>
      <p:sp>
        <p:nvSpPr>
          <p:cNvPr id="32" name="Text 30"/>
          <p:cNvSpPr/>
          <p:nvPr/>
        </p:nvSpPr>
        <p:spPr>
          <a:xfrm>
            <a:off x="3594050" y="4260354"/>
            <a:ext cx="199486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Prevents underfitting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6045101" y="1355378"/>
            <a:ext cx="2565350" cy="3343126"/>
          </a:xfrm>
          <a:prstGeom prst="roundRect">
            <a:avLst>
              <a:gd name="adj" fmla="val 4456"/>
            </a:avLst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6254651" y="1564928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730901" y="1635472"/>
            <a:ext cx="531013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Voting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6254651" y="2060228"/>
            <a:ext cx="2189175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 predictions from different model types using hard (majority) or soft (probability) voting.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254651" y="2688878"/>
            <a:ext cx="2146250" cy="586680"/>
          </a:xfrm>
          <a:prstGeom prst="roundRect">
            <a:avLst>
              <a:gd name="adj" fmla="val 12988"/>
            </a:avLst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6368951" y="2803178"/>
            <a:ext cx="195600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BBF7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COMBINES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6368951" y="2974628"/>
            <a:ext cx="195600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300"/>
              </a:spcBef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LR + RF + GB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254651" y="3389858"/>
            <a:ext cx="2146250" cy="4953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6613327" y="3532733"/>
            <a:ext cx="209550" cy="209550"/>
          </a:xfrm>
          <a:prstGeom prst="roundRect">
            <a:avLst>
              <a:gd name="adj" fmla="val 18182"/>
            </a:avLst>
          </a:prstGeom>
          <a:solidFill>
            <a:srgbClr val="0F4C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6880027" y="3532733"/>
            <a:ext cx="209550" cy="209550"/>
          </a:xfrm>
          <a:prstGeom prst="roundRect">
            <a:avLst>
              <a:gd name="adj" fmla="val 18182"/>
            </a:avLst>
          </a:prstGeom>
          <a:solidFill>
            <a:srgbClr val="E85A4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7146727" y="3532733"/>
            <a:ext cx="209550" cy="209550"/>
          </a:xfrm>
          <a:prstGeom prst="roundRect">
            <a:avLst>
              <a:gd name="adj" fmla="val 18182"/>
            </a:avLst>
          </a:prstGeom>
          <a:solidFill>
            <a:srgbClr val="8B5C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7737277" y="3485108"/>
            <a:ext cx="304800" cy="304800"/>
          </a:xfrm>
          <a:prstGeom prst="roundRect">
            <a:avLst>
              <a:gd name="adj" fmla="val 18750"/>
            </a:avLst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6254651" y="3999458"/>
            <a:ext cx="2146250" cy="489496"/>
          </a:xfrm>
          <a:prstGeom prst="roundRect">
            <a:avLst>
              <a:gd name="adj" fmla="val 11675"/>
            </a:avLst>
          </a:prstGeom>
          <a:solidFill>
            <a:srgbClr val="DCFC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6349901" y="4094708"/>
            <a:ext cx="199486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Model Diversity</a:t>
            </a:r>
            <a:endParaRPr lang="en-US" sz="825" dirty="0"/>
          </a:p>
        </p:txBody>
      </p:sp>
      <p:sp>
        <p:nvSpPr>
          <p:cNvPr id="47" name="Text 45"/>
          <p:cNvSpPr/>
          <p:nvPr/>
        </p:nvSpPr>
        <p:spPr>
          <a:xfrm>
            <a:off x="6349901" y="4260354"/>
            <a:ext cx="199486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Leverages different strengths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381000"/>
            <a:ext cx="412908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0F4C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Ensemble Results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3400" y="1274713"/>
            <a:ext cx="2603450" cy="1116211"/>
          </a:xfrm>
          <a:prstGeom prst="roundRect">
            <a:avLst>
              <a:gd name="adj" fmla="val 853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14375" y="1455688"/>
            <a:ext cx="99766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14375" y="1756618"/>
            <a:ext cx="661261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80.0%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14375" y="2076599"/>
            <a:ext cx="6612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553170" y="1756618"/>
            <a:ext cx="661261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57.7%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3170" y="2076599"/>
            <a:ext cx="6612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 Score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270200" y="1274713"/>
            <a:ext cx="2603450" cy="1116211"/>
          </a:xfrm>
          <a:prstGeom prst="roundRect">
            <a:avLst>
              <a:gd name="adj" fmla="val 853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451175" y="1455688"/>
            <a:ext cx="118650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E85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Gradient Boosting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451175" y="1756618"/>
            <a:ext cx="661261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79.5%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451175" y="2076599"/>
            <a:ext cx="6612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4289971" y="1756618"/>
            <a:ext cx="661261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57.1%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289971" y="2076599"/>
            <a:ext cx="6612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 Score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6007001" y="1274713"/>
            <a:ext cx="2603450" cy="1116211"/>
          </a:xfrm>
          <a:prstGeom prst="roundRect">
            <a:avLst>
              <a:gd name="adj" fmla="val 853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187976" y="1455688"/>
            <a:ext cx="64243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AdaBoost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187976" y="1756618"/>
            <a:ext cx="661261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79.8%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187976" y="2076599"/>
            <a:ext cx="6612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7026771" y="1756618"/>
            <a:ext cx="661261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58.5%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026771" y="2076599"/>
            <a:ext cx="6612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 Score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33400" y="2560439"/>
            <a:ext cx="2762250" cy="1116211"/>
          </a:xfrm>
          <a:prstGeom prst="roundRect">
            <a:avLst>
              <a:gd name="adj" fmla="val 853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14375" y="2741414"/>
            <a:ext cx="119424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Bagging Classifier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14375" y="3042345"/>
            <a:ext cx="661261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77.2%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14375" y="3362325"/>
            <a:ext cx="6612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1553170" y="3042345"/>
            <a:ext cx="661261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52.6%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553170" y="3362325"/>
            <a:ext cx="6612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 Score</a:t>
            </a:r>
            <a:endParaRPr lang="en-US" sz="750" dirty="0"/>
          </a:p>
        </p:txBody>
      </p:sp>
      <p:pic>
        <p:nvPicPr>
          <p:cNvPr id="27" name="Image 0" descr="/tmp/rasterized-gradient-9cccd72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29000" y="2524274"/>
            <a:ext cx="5181600" cy="1188541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3619500" y="2714774"/>
            <a:ext cx="145595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Voting Classifier (Soft)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3619500" y="3015704"/>
            <a:ext cx="771471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80.2%</a:t>
            </a:r>
            <a:endParaRPr lang="en-US" sz="2100" dirty="0"/>
          </a:p>
        </p:txBody>
      </p:sp>
      <p:sp>
        <p:nvSpPr>
          <p:cNvPr id="30" name="Text 27"/>
          <p:cNvSpPr/>
          <p:nvPr/>
        </p:nvSpPr>
        <p:spPr>
          <a:xfrm>
            <a:off x="3619500" y="3388965"/>
            <a:ext cx="77147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</a:t>
            </a:r>
            <a:endParaRPr lang="en-US" sz="750" dirty="0"/>
          </a:p>
        </p:txBody>
      </p:sp>
      <p:sp>
        <p:nvSpPr>
          <p:cNvPr id="31" name="Text 28"/>
          <p:cNvSpPr/>
          <p:nvPr/>
        </p:nvSpPr>
        <p:spPr>
          <a:xfrm>
            <a:off x="4680645" y="3015704"/>
            <a:ext cx="771471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58.1%</a:t>
            </a:r>
            <a:endParaRPr lang="en-US" sz="2100" dirty="0"/>
          </a:p>
        </p:txBody>
      </p:sp>
      <p:sp>
        <p:nvSpPr>
          <p:cNvPr id="32" name="Text 29"/>
          <p:cNvSpPr/>
          <p:nvPr/>
        </p:nvSpPr>
        <p:spPr>
          <a:xfrm>
            <a:off x="4680645" y="3388965"/>
            <a:ext cx="77147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 Score</a:t>
            </a:r>
            <a:endParaRPr lang="en-US" sz="750" dirty="0"/>
          </a:p>
        </p:txBody>
      </p:sp>
      <p:sp>
        <p:nvSpPr>
          <p:cNvPr id="33" name="Text 30"/>
          <p:cNvSpPr/>
          <p:nvPr/>
        </p:nvSpPr>
        <p:spPr>
          <a:xfrm>
            <a:off x="5741789" y="3109020"/>
            <a:ext cx="2731877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Combines Logistic Regression + Random Forest + Gradient Boosting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533400" y="3846165"/>
            <a:ext cx="8077200" cy="670322"/>
          </a:xfrm>
          <a:prstGeom prst="roundRect">
            <a:avLst>
              <a:gd name="adj" fmla="val 14210"/>
            </a:avLst>
          </a:prstGeom>
          <a:solidFill>
            <a:srgbClr val="FEF3C7"/>
          </a:solidFill>
          <a:ln w="9525">
            <a:solidFill>
              <a:srgbClr val="FCD34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695325" y="4008090"/>
            <a:ext cx="7908417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Key Insight:</a:t>
            </a:r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Ensembles achieve highest accuracy (80.2%), but simple Logistic Regression still wins on F1 Score (59.2%) - the better metric for imbalanced data!</a:t>
            </a:r>
            <a:endParaRPr lang="en-US" sz="97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381000"/>
            <a:ext cx="412908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0F4C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Evaluation Metrics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3400" y="1270992"/>
            <a:ext cx="3238500" cy="2352229"/>
          </a:xfrm>
          <a:prstGeom prst="roundRect">
            <a:avLst>
              <a:gd name="adj" fmla="val 4049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56463" y="1423392"/>
            <a:ext cx="299237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Aft>
                <a:spcPts val="900"/>
              </a:spcAft>
              <a:buNone/>
            </a:pPr>
            <a:r>
              <a:rPr lang="en-US" sz="825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CONFUSION MATRIX</a:t>
            </a:r>
            <a:endParaRPr lang="en-US" sz="825" dirty="0"/>
          </a:p>
        </p:txBody>
      </p:sp>
      <p:sp>
        <p:nvSpPr>
          <p:cNvPr id="5" name="Text 3"/>
          <p:cNvSpPr/>
          <p:nvPr/>
        </p:nvSpPr>
        <p:spPr>
          <a:xfrm>
            <a:off x="685800" y="1684288"/>
            <a:ext cx="1428750" cy="855166"/>
          </a:xfrm>
          <a:prstGeom prst="roundRect">
            <a:avLst>
              <a:gd name="adj" fmla="val 8911"/>
            </a:avLst>
          </a:prstGeom>
          <a:solidFill>
            <a:srgbClr val="DCFCE7"/>
          </a:solidFill>
          <a:ln w="19050">
            <a:solidFill>
              <a:srgbClr val="86EFA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26960" y="1836688"/>
            <a:ext cx="1146429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TN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26960" y="2114699"/>
            <a:ext cx="114642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True Negative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26960" y="2267099"/>
            <a:ext cx="114642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Predicted No, Was No</a:t>
            </a:r>
            <a:endParaRPr lang="en-US" sz="675" dirty="0"/>
          </a:p>
        </p:txBody>
      </p:sp>
      <p:sp>
        <p:nvSpPr>
          <p:cNvPr id="9" name="Text 7"/>
          <p:cNvSpPr/>
          <p:nvPr/>
        </p:nvSpPr>
        <p:spPr>
          <a:xfrm>
            <a:off x="2190750" y="1684288"/>
            <a:ext cx="1428750" cy="855166"/>
          </a:xfrm>
          <a:prstGeom prst="roundRect">
            <a:avLst>
              <a:gd name="adj" fmla="val 8911"/>
            </a:avLst>
          </a:prstGeom>
          <a:solidFill>
            <a:srgbClr val="FEF2F2"/>
          </a:solidFill>
          <a:ln w="19050">
            <a:solidFill>
              <a:srgbClr val="FECAC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331911" y="1836688"/>
            <a:ext cx="1146429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2331911" y="2114699"/>
            <a:ext cx="114642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False Positive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2331911" y="2267099"/>
            <a:ext cx="114642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Predicted Yes, Was No</a:t>
            </a:r>
            <a:endParaRPr lang="en-US" sz="675" dirty="0"/>
          </a:p>
        </p:txBody>
      </p:sp>
      <p:sp>
        <p:nvSpPr>
          <p:cNvPr id="13" name="Text 11"/>
          <p:cNvSpPr/>
          <p:nvPr/>
        </p:nvSpPr>
        <p:spPr>
          <a:xfrm>
            <a:off x="685800" y="2615654"/>
            <a:ext cx="1428750" cy="855166"/>
          </a:xfrm>
          <a:prstGeom prst="roundRect">
            <a:avLst>
              <a:gd name="adj" fmla="val 8911"/>
            </a:avLst>
          </a:prstGeom>
          <a:solidFill>
            <a:srgbClr val="FEF2F2"/>
          </a:solidFill>
          <a:ln w="19050">
            <a:solidFill>
              <a:srgbClr val="FECAC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26960" y="2768054"/>
            <a:ext cx="1146429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FN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26960" y="3046065"/>
            <a:ext cx="114642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False Negative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26960" y="3198465"/>
            <a:ext cx="114642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Predicted No, Was Yes</a:t>
            </a:r>
            <a:endParaRPr lang="en-US" sz="675" dirty="0"/>
          </a:p>
        </p:txBody>
      </p:sp>
      <p:sp>
        <p:nvSpPr>
          <p:cNvPr id="17" name="Text 15"/>
          <p:cNvSpPr/>
          <p:nvPr/>
        </p:nvSpPr>
        <p:spPr>
          <a:xfrm>
            <a:off x="2190750" y="2615654"/>
            <a:ext cx="1428750" cy="855166"/>
          </a:xfrm>
          <a:prstGeom prst="roundRect">
            <a:avLst>
              <a:gd name="adj" fmla="val 8911"/>
            </a:avLst>
          </a:prstGeom>
          <a:solidFill>
            <a:srgbClr val="DCFCE7"/>
          </a:solidFill>
          <a:ln w="19050">
            <a:solidFill>
              <a:srgbClr val="86EFA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2331911" y="2768054"/>
            <a:ext cx="1146429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2331911" y="3046065"/>
            <a:ext cx="114642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True Positive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2331911" y="3198465"/>
            <a:ext cx="114642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Predicted Yes, Was Yes</a:t>
            </a:r>
            <a:endParaRPr lang="en-US" sz="675" dirty="0"/>
          </a:p>
        </p:txBody>
      </p:sp>
      <p:sp>
        <p:nvSpPr>
          <p:cNvPr id="21" name="Text 19"/>
          <p:cNvSpPr/>
          <p:nvPr/>
        </p:nvSpPr>
        <p:spPr>
          <a:xfrm>
            <a:off x="533400" y="3737521"/>
            <a:ext cx="3238500" cy="782687"/>
          </a:xfrm>
          <a:prstGeom prst="roundRect">
            <a:avLst>
              <a:gd name="adj" fmla="val 12170"/>
            </a:avLst>
          </a:prstGeom>
          <a:solidFill>
            <a:srgbClr val="FEF3C7"/>
          </a:solidFill>
          <a:ln w="9525">
            <a:solidFill>
              <a:srgbClr val="FCD34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76275" y="3880396"/>
            <a:ext cx="301180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For Churn Prediction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676275" y="4084141"/>
            <a:ext cx="3011805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FN is costly: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Missing actual churners means lost customers and revenue!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4038600" y="1166961"/>
            <a:ext cx="2238375" cy="906661"/>
          </a:xfrm>
          <a:prstGeom prst="roundRect">
            <a:avLst>
              <a:gd name="adj" fmla="val 10506"/>
            </a:avLst>
          </a:prstGeom>
          <a:solidFill>
            <a:srgbClr val="DBEAFE"/>
          </a:solidFill>
          <a:ln w="9525">
            <a:solidFill>
              <a:srgbClr val="93C5F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181475" y="1309836"/>
            <a:ext cx="199167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181475" y="1526977"/>
            <a:ext cx="1991677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F4C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(TP + TN) / Total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181475" y="1797397"/>
            <a:ext cx="199167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450"/>
              </a:spcBef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correctness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6372225" y="1166961"/>
            <a:ext cx="2238375" cy="906661"/>
          </a:xfrm>
          <a:prstGeom prst="roundRect">
            <a:avLst>
              <a:gd name="adj" fmla="val 10506"/>
            </a:avLst>
          </a:prstGeom>
          <a:solidFill>
            <a:srgbClr val="FFEDD5"/>
          </a:solidFill>
          <a:ln w="9525">
            <a:solidFill>
              <a:srgbClr val="FED7A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515100" y="1309836"/>
            <a:ext cx="199167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515100" y="1526977"/>
            <a:ext cx="1991677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A58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TP / (TP + FP)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15100" y="1797397"/>
            <a:ext cx="199167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450"/>
              </a:spcBef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predicted churn, how many correct?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4038600" y="2168872"/>
            <a:ext cx="2238375" cy="906661"/>
          </a:xfrm>
          <a:prstGeom prst="roundRect">
            <a:avLst>
              <a:gd name="adj" fmla="val 10506"/>
            </a:avLst>
          </a:prstGeom>
          <a:solidFill>
            <a:srgbClr val="DCFCE7"/>
          </a:solidFill>
          <a:ln w="9525">
            <a:solidFill>
              <a:srgbClr val="86EFA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181475" y="2311747"/>
            <a:ext cx="199167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 (Sensitivity)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181475" y="2528888"/>
            <a:ext cx="1991677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TP / (TP + FN)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181475" y="2799308"/>
            <a:ext cx="199167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450"/>
              </a:spcBef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actual churners, how many found?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6372225" y="2168872"/>
            <a:ext cx="2238375" cy="906661"/>
          </a:xfrm>
          <a:prstGeom prst="roundRect">
            <a:avLst>
              <a:gd name="adj" fmla="val 10506"/>
            </a:avLst>
          </a:prstGeom>
          <a:solidFill>
            <a:srgbClr val="FAF5FF"/>
          </a:solidFill>
          <a:ln w="9525">
            <a:solidFill>
              <a:srgbClr val="E9D5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6515100" y="2311747"/>
            <a:ext cx="199167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 Score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515100" y="2528888"/>
            <a:ext cx="1991677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× (P × R) / (P + R)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515100" y="2799308"/>
            <a:ext cx="199167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450"/>
              </a:spcBef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Harmonic mean of P and R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4038600" y="3170783"/>
            <a:ext cx="4572000" cy="581025"/>
          </a:xfrm>
          <a:prstGeom prst="roundRect">
            <a:avLst>
              <a:gd name="adj" fmla="val 16393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4171950" y="3304133"/>
            <a:ext cx="439140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</a:t>
            </a:r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sklearn.metrics </a:t>
            </a:r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</a:t>
            </a:r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classification_report</a:t>
            </a:r>
            <a:endParaRPr lang="en-US" sz="825" dirty="0"/>
          </a:p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25" dirty="0"/>
          </a:p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</a:t>
            </a:r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(classification_report(y_test, y_pred))</a:t>
            </a:r>
            <a:endParaRPr lang="en-US" sz="825" dirty="0"/>
          </a:p>
        </p:txBody>
      </p:sp>
      <p:sp>
        <p:nvSpPr>
          <p:cNvPr id="42" name="Text 40"/>
          <p:cNvSpPr/>
          <p:nvPr/>
        </p:nvSpPr>
        <p:spPr>
          <a:xfrm>
            <a:off x="4038600" y="3847058"/>
            <a:ext cx="4572000" cy="777032"/>
          </a:xfrm>
          <a:prstGeom prst="roundRect">
            <a:avLst>
              <a:gd name="adj" fmla="val 12258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4181475" y="3989933"/>
            <a:ext cx="437197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Why Accuracy Can Be Misleading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181475" y="4188023"/>
            <a:ext cx="4371975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73.5% non-churners, always predicting "No Churn" gives 73.5% accuracy but 0% recall! </a:t>
            </a:r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F1 for imbalanced data.</a:t>
            </a:r>
            <a:endParaRPr lang="en-US" sz="8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330696"/>
            <a:ext cx="412908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0F4C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Final Model Comparison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2925" y="949821"/>
            <a:ext cx="821931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 Score Comparison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33400" y="3912096"/>
            <a:ext cx="2590800" cy="900857"/>
          </a:xfrm>
          <a:prstGeom prst="roundRect">
            <a:avLst>
              <a:gd name="adj" fmla="val 10573"/>
            </a:avLst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85800" y="4064496"/>
            <a:ext cx="23317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BBF7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F1 SCORE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685800" y="4235946"/>
            <a:ext cx="2331720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 Regression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85800" y="4513957"/>
            <a:ext cx="233172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BBF7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59.2% - Simple model wins!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3276600" y="3912096"/>
            <a:ext cx="2590800" cy="900857"/>
          </a:xfrm>
          <a:prstGeom prst="roundRect">
            <a:avLst>
              <a:gd name="adj" fmla="val 10573"/>
            </a:avLst>
          </a:prstGeom>
          <a:solidFill>
            <a:srgbClr val="0F4C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429000" y="4064496"/>
            <a:ext cx="23317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7DD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ACCURACY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3429000" y="4235946"/>
            <a:ext cx="2331720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Voting Classifier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429000" y="4513957"/>
            <a:ext cx="233172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7DD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80.2% - Ensemble power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6019800" y="3912096"/>
            <a:ext cx="2590800" cy="900857"/>
          </a:xfrm>
          <a:prstGeom prst="roundRect">
            <a:avLst>
              <a:gd name="adj" fmla="val 10573"/>
            </a:avLst>
          </a:prstGeom>
          <a:solidFill>
            <a:srgbClr val="E85A4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172200" y="4064496"/>
            <a:ext cx="23317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FECA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FEATURE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6172200" y="4235946"/>
            <a:ext cx="2331720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 Type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172200" y="4513957"/>
            <a:ext cx="233172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FECA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45.2% importance</a:t>
            </a:r>
            <a:endParaRPr lang="en-US" sz="825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533400" y="940296"/>
          <a:ext cx="8077200" cy="2667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381000"/>
            <a:ext cx="412908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0F4C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Takeaways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3400" y="781050"/>
            <a:ext cx="476250" cy="28575"/>
          </a:xfrm>
          <a:prstGeom prst="roundRect">
            <a:avLst>
              <a:gd name="adj" fmla="val 66667"/>
            </a:avLst>
          </a:prstGeom>
          <a:solidFill>
            <a:srgbClr val="E85A4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33400" y="1511796"/>
            <a:ext cx="3924300" cy="887611"/>
          </a:xfrm>
          <a:prstGeom prst="roundRect">
            <a:avLst>
              <a:gd name="adj" fmla="val 10731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52450" y="1511796"/>
            <a:ext cx="0" cy="887611"/>
          </a:xfrm>
          <a:prstGeom prst="line">
            <a:avLst/>
          </a:prstGeom>
          <a:noFill/>
          <a:ln w="38100">
            <a:solidFill>
              <a:srgbClr val="0F4C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2950" y="1683246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0F4C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219200" y="1683246"/>
            <a:ext cx="312839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Models Can Win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219200" y="1907977"/>
            <a:ext cx="3128391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 Regression achieved the best F1 score (59.2%), beating complex ensemble methods.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33400" y="2532757"/>
            <a:ext cx="3924300" cy="887611"/>
          </a:xfrm>
          <a:prstGeom prst="roundRect">
            <a:avLst>
              <a:gd name="adj" fmla="val 10731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552450" y="2532757"/>
            <a:ext cx="0" cy="887611"/>
          </a:xfrm>
          <a:prstGeom prst="line">
            <a:avLst/>
          </a:prstGeom>
          <a:noFill/>
          <a:ln w="38100">
            <a:solidFill>
              <a:srgbClr val="E85A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2950" y="2704207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E85A4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219200" y="2704207"/>
            <a:ext cx="312839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E85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the Right Metric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219200" y="2928938"/>
            <a:ext cx="3128391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26.5% churn rate, F1 score is more meaningful than accuracy for imbalanced data.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33400" y="3553718"/>
            <a:ext cx="3924300" cy="887611"/>
          </a:xfrm>
          <a:prstGeom prst="roundRect">
            <a:avLst>
              <a:gd name="adj" fmla="val 10731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552450" y="3553718"/>
            <a:ext cx="0" cy="887611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2950" y="3725168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219200" y="3725168"/>
            <a:ext cx="312839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Insights Matter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219200" y="3949898"/>
            <a:ext cx="3128391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 type is the strongest predictor (45%) - month-to-month customers churn more.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686300" y="1475482"/>
            <a:ext cx="3924300" cy="887611"/>
          </a:xfrm>
          <a:prstGeom prst="roundRect">
            <a:avLst>
              <a:gd name="adj" fmla="val 10731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4705350" y="1475482"/>
            <a:ext cx="0" cy="887611"/>
          </a:xfrm>
          <a:prstGeom prst="line">
            <a:avLst/>
          </a:prstGeom>
          <a:noFill/>
          <a:ln w="38100">
            <a:solidFill>
              <a:srgbClr val="8B5C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5850" y="1646932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8B5C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372100" y="1646932"/>
            <a:ext cx="312839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Preprocessing is Critical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372100" y="1871663"/>
            <a:ext cx="3128391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KNN and SVM require feature scaling - without it, results can be significantly worse.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686300" y="2496443"/>
            <a:ext cx="3924300" cy="887611"/>
          </a:xfrm>
          <a:prstGeom prst="roundRect">
            <a:avLst>
              <a:gd name="adj" fmla="val 10731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4705350" y="2496443"/>
            <a:ext cx="0" cy="887611"/>
          </a:xfrm>
          <a:prstGeom prst="line">
            <a:avLst/>
          </a:prstGeom>
          <a:noFill/>
          <a:ln w="38100">
            <a:solidFill>
              <a:srgbClr val="0891B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5850" y="2667893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0891B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372100" y="2667893"/>
            <a:ext cx="312839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Multiple Models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372100" y="2892623"/>
            <a:ext cx="3128391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single algorithm is always best. Test multiple approaches and compare systematically.</a:t>
            </a:r>
            <a:endParaRPr lang="en-US" sz="900" dirty="0"/>
          </a:p>
        </p:txBody>
      </p:sp>
      <p:pic>
        <p:nvPicPr>
          <p:cNvPr id="29" name="Image 0" descr="/tmp/rasterized-gradient-11a5be2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86300" y="3517404"/>
            <a:ext cx="3924300" cy="960090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4876800" y="3707904"/>
            <a:ext cx="361416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Recommended Workflow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4876800" y="3944094"/>
            <a:ext cx="361416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EDA → Preprocessing → Baseline (LogReg) → Compare Models → Tune Hyperparameters → Evaluate on Test Set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49523" y="1139279"/>
            <a:ext cx="249597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00"/>
              </a:lnSpc>
              <a:spcAft>
                <a:spcPts val="900"/>
              </a:spcAft>
              <a:buNone/>
            </a:pPr>
            <a:r>
              <a:rPr lang="en-US" sz="3600" b="1" dirty="0">
                <a:solidFill>
                  <a:srgbClr val="0F4C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You!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774082" y="1863179"/>
            <a:ext cx="184685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3000"/>
              </a:spcAft>
              <a:buNone/>
            </a:pPr>
            <a:r>
              <a:rPr lang="en-US" sz="13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Discussion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57200" y="2636490"/>
            <a:ext cx="4480620" cy="1367582"/>
          </a:xfrm>
          <a:prstGeom prst="roundRect">
            <a:avLst>
              <a:gd name="adj" fmla="val 8358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45566" y="2865090"/>
            <a:ext cx="410388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Aft>
                <a:spcPts val="1200"/>
              </a:spcAft>
              <a:buNone/>
            </a:pPr>
            <a:r>
              <a:rPr lang="en-US" sz="825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COVERED</a:t>
            </a:r>
            <a:endParaRPr lang="en-US" sz="825" dirty="0"/>
          </a:p>
        </p:txBody>
      </p:sp>
      <p:sp>
        <p:nvSpPr>
          <p:cNvPr id="6" name="Text 4"/>
          <p:cNvSpPr/>
          <p:nvPr/>
        </p:nvSpPr>
        <p:spPr>
          <a:xfrm>
            <a:off x="825297" y="3164086"/>
            <a:ext cx="344597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25297" y="3628876"/>
            <a:ext cx="34459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2045010" y="3164086"/>
            <a:ext cx="777999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7,043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045010" y="3628876"/>
            <a:ext cx="77799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Customers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3692862" y="3164086"/>
            <a:ext cx="881530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59.2%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92862" y="3628876"/>
            <a:ext cx="88153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F1 Score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5547420" y="0"/>
            <a:ext cx="3596580" cy="5143500"/>
          </a:xfrm>
          <a:prstGeom prst="rect">
            <a:avLst/>
          </a:prstGeom>
          <a:solidFill>
            <a:srgbClr val="0F4C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852220" y="1416397"/>
            <a:ext cx="30467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600"/>
              </a:spcAft>
              <a:buNone/>
            </a:pPr>
            <a:r>
              <a:rPr lang="en-US" sz="750" dirty="0">
                <a:solidFill>
                  <a:srgbClr val="7DD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CODE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5852220" y="1625947"/>
            <a:ext cx="304672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classification_case_study.py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852220" y="2041178"/>
            <a:ext cx="2986980" cy="9525"/>
          </a:xfrm>
          <a:prstGeom prst="rect">
            <a:avLst/>
          </a:prstGeom>
          <a:solidFill>
            <a:srgbClr val="1E40A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852220" y="2279303"/>
            <a:ext cx="30467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600"/>
              </a:spcAft>
              <a:buNone/>
            </a:pPr>
            <a:r>
              <a:rPr lang="en-US" sz="750" dirty="0">
                <a:solidFill>
                  <a:srgbClr val="7DD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5852220" y="2488853"/>
            <a:ext cx="304672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 Telco Customer Churn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852220" y="2713583"/>
            <a:ext cx="304672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7DD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kaggle.com/blastchar/telco-customer-churn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5852220" y="3088779"/>
            <a:ext cx="2986980" cy="9525"/>
          </a:xfrm>
          <a:prstGeom prst="rect">
            <a:avLst/>
          </a:prstGeom>
          <a:solidFill>
            <a:srgbClr val="1E40A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852220" y="3326904"/>
            <a:ext cx="30467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600"/>
              </a:spcAft>
              <a:buNone/>
            </a:pPr>
            <a:r>
              <a:rPr lang="en-US" sz="750" dirty="0">
                <a:solidFill>
                  <a:srgbClr val="7DD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LIBRARIES USED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Classification Algorithms - Customer Churn Case Study</dc:title>
  <dc:subject>Machine Learning Classification with IBM Telco Real Data</dc:subject>
  <dc:creator>ML Webinar</dc:creator>
  <cp:lastModifiedBy>ML Webinar</cp:lastModifiedBy>
  <cp:revision>1</cp:revision>
  <dcterms:created xsi:type="dcterms:W3CDTF">2025-12-29T11:22:57Z</dcterms:created>
  <dcterms:modified xsi:type="dcterms:W3CDTF">2025-12-29T11:22:57Z</dcterms:modified>
</cp:coreProperties>
</file>